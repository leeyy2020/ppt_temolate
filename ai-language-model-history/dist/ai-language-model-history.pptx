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291072"/>
            <a:ext cx="1993392" cy="54864"/>
          </a:xfrm>
          <a:prstGeom prst="rect">
            <a:avLst/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59552" y="841248"/>
            <a:ext cx="566928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11556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6" b="1" dirty="0">
                <a:solidFill>
                  <a:srgbClr val="FFFDF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AI语言模型发展历程</a:t>
            </a:r>
            <a:endParaRPr lang="en-US" sz="2856" dirty="0"/>
          </a:p>
        </p:txBody>
      </p:sp>
      <p:sp>
        <p:nvSpPr>
          <p:cNvPr id="6" name="Text 3"/>
          <p:cNvSpPr/>
          <p:nvPr/>
        </p:nvSpPr>
        <p:spPr>
          <a:xfrm>
            <a:off x="786384" y="2011680"/>
            <a:ext cx="4206240" cy="432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0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从统计语言模型、RNN 与 Transformer，走到多模态、长上下文、开放权重与推理模型。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86384" y="658368"/>
            <a:ext cx="1426464" cy="310896"/>
          </a:xfrm>
          <a:prstGeom prst="roundRect">
            <a:avLst>
              <a:gd name="adj" fmla="val 17647"/>
            </a:avLst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7132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2017-2025 主线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2304288" y="658368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04288" y="713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前史补足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786384" y="5212080"/>
            <a:ext cx="804672" cy="310896"/>
          </a:xfrm>
          <a:prstGeom prst="roundRect">
            <a:avLst>
              <a:gd name="adj" fmla="val 17647"/>
            </a:avLst>
          </a:prstGeom>
          <a:solidFill>
            <a:srgbClr val="23304A"/>
          </a:solidFill>
          <a:ln w="12700">
            <a:solidFill>
              <a:srgbClr val="23304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" y="526694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B35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架构跃迁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682496" y="5212080"/>
            <a:ext cx="804672" cy="310896"/>
          </a:xfrm>
          <a:prstGeom prst="roundRect">
            <a:avLst>
              <a:gd name="adj" fmla="val 17647"/>
            </a:avLst>
          </a:prstGeom>
          <a:solidFill>
            <a:srgbClr val="1B2439"/>
          </a:solidFill>
          <a:ln w="12700">
            <a:solidFill>
              <a:srgbClr val="1B2439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82496" y="526694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7E0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规模革命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2578608" y="5212080"/>
            <a:ext cx="804672" cy="310896"/>
          </a:xfrm>
          <a:prstGeom prst="roundRect">
            <a:avLst>
              <a:gd name="adj" fmla="val 17647"/>
            </a:avLst>
          </a:prstGeom>
          <a:solidFill>
            <a:srgbClr val="23304A"/>
          </a:solidFill>
          <a:ln w="12700">
            <a:solidFill>
              <a:srgbClr val="23304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78608" y="526694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B35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对齐训练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3474720" y="5212080"/>
            <a:ext cx="804672" cy="310896"/>
          </a:xfrm>
          <a:prstGeom prst="roundRect">
            <a:avLst>
              <a:gd name="adj" fmla="val 17647"/>
            </a:avLst>
          </a:prstGeom>
          <a:solidFill>
            <a:srgbClr val="1B2439"/>
          </a:solidFill>
          <a:ln w="12700">
            <a:solidFill>
              <a:srgbClr val="1B2439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0" y="526694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7E0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产品化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4370832" y="5212080"/>
            <a:ext cx="804672" cy="310896"/>
          </a:xfrm>
          <a:prstGeom prst="roundRect">
            <a:avLst>
              <a:gd name="adj" fmla="val 17647"/>
            </a:avLst>
          </a:prstGeom>
          <a:solidFill>
            <a:srgbClr val="23304A"/>
          </a:solidFill>
          <a:ln w="12700">
            <a:solidFill>
              <a:srgbClr val="23304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70832" y="526694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B35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推理强化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786384" y="5650992"/>
            <a:ext cx="4901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9FA8B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语言模型的故事，不只是模型变大，而是“可并行的架构 + 可迁移的预训练 + 可对齐的交互界面”逐层叠加。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786384" y="63459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9C8C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OpenAI Codex | editable deck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6254496"/>
            <a:ext cx="10874959" cy="0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OVERVIEW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512064" y="521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一页看懂语言模型的几次拐点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12064" y="1133856"/>
            <a:ext cx="566928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本质上是三次叠加：架构革命、规模革命、对齐革命；2024-2025 又叠加了长上下文、开放权重与推理强化。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11712" y="64190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877824" y="2798064"/>
            <a:ext cx="10442448" cy="0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670048"/>
            <a:ext cx="256032" cy="256032"/>
          </a:xfrm>
          <a:prstGeom prst="ellipse">
            <a:avLst/>
          </a:prstGeom>
          <a:solidFill>
            <a:srgbClr val="69C8C4"/>
          </a:solidFill>
          <a:ln w="12700">
            <a:solidFill>
              <a:srgbClr val="69C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225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1980s-2016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13816" y="2980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统计/循环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429768" y="3200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n-gram, RNN, LSTM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907792" y="2670048"/>
            <a:ext cx="256032" cy="256032"/>
          </a:xfrm>
          <a:prstGeom prst="ellipse">
            <a:avLst/>
          </a:prstGeom>
          <a:solidFill>
            <a:srgbClr val="3E6FF4"/>
          </a:solidFill>
          <a:ln w="12700">
            <a:solidFill>
              <a:srgbClr val="3E6F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62072" y="23225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2017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761488" y="2980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Transformer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2377440" y="3200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self-attention 并行化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4681728" y="2670048"/>
            <a:ext cx="256032" cy="256032"/>
          </a:xfrm>
          <a:prstGeom prst="ellipse">
            <a:avLst/>
          </a:prstGeom>
          <a:solidFill>
            <a:srgbClr val="F3B35E"/>
          </a:solidFill>
          <a:ln w="12700">
            <a:solidFill>
              <a:srgbClr val="F3B3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3225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2018-2019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535424" y="2980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预训练迁移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151376" y="3200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BERT 让“预训练+微调”成为主流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711696" y="2670048"/>
            <a:ext cx="256032" cy="256032"/>
          </a:xfrm>
          <a:prstGeom prst="ellipse">
            <a:avLst/>
          </a:prstGeom>
          <a:solidFill>
            <a:srgbClr val="D85C5C"/>
          </a:solidFill>
          <a:ln w="12700">
            <a:solidFill>
              <a:srgbClr val="D8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65976" y="23225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2020-2022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565392" y="2980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规模与对齐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6181344" y="3200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GPT-3, InstructGPT, ChatGPT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8613648" y="2670048"/>
            <a:ext cx="256032" cy="256032"/>
          </a:xfrm>
          <a:prstGeom prst="ellipse">
            <a:avLst/>
          </a:prstGeom>
          <a:solidFill>
            <a:srgbClr val="5BAE73"/>
          </a:solidFill>
          <a:ln w="12700">
            <a:solidFill>
              <a:srgbClr val="5BAE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67928" y="23225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2023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467344" y="2980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多模态平台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8083296" y="3200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GPT-4 走向产品化平台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10222992" y="2670048"/>
            <a:ext cx="256032" cy="256032"/>
          </a:xfrm>
          <a:prstGeom prst="ellipse">
            <a:avLst/>
          </a:prstGeom>
          <a:solidFill>
            <a:srgbClr val="3E6FF4"/>
          </a:solidFill>
          <a:ln w="12700">
            <a:solidFill>
              <a:srgbClr val="3E6F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77272" y="23225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2024-2025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0076688" y="2980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长上下文/推理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9692640" y="3200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Gemini 1.5, Claude 3.5, Llama 3, DeepSeek-R1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713232" y="3703320"/>
            <a:ext cx="3493008" cy="1755648"/>
          </a:xfrm>
          <a:prstGeom prst="roundRect">
            <a:avLst>
              <a:gd name="adj" fmla="val 4167"/>
            </a:avLst>
          </a:prstGeom>
          <a:solidFill>
            <a:srgbClr val="FFFDF8"/>
          </a:solidFill>
          <a:ln w="12700">
            <a:solidFill>
              <a:srgbClr val="69C8C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960" y="3831336"/>
            <a:ext cx="109728" cy="475488"/>
          </a:xfrm>
          <a:prstGeom prst="rect">
            <a:avLst/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383133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输入形态在变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24128" y="4398264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从词预测，到段落生成，再到图文、音频、长文档与外部工具调用。模型不再只面对一段短文本。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4352544" y="3703320"/>
            <a:ext cx="3493008" cy="1755648"/>
          </a:xfrm>
          <a:prstGeom prst="roundRect">
            <a:avLst>
              <a:gd name="adj" fmla="val 4167"/>
            </a:avLst>
          </a:prstGeom>
          <a:solidFill>
            <a:srgbClr val="FFFDF8"/>
          </a:solidFill>
          <a:ln w="12700">
            <a:solidFill>
              <a:srgbClr val="F3B35E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62272" y="3831336"/>
            <a:ext cx="109728" cy="475488"/>
          </a:xfrm>
          <a:prstGeom prst="rect">
            <a:avLst/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83133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优化目标在变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63440" y="4398264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早期更看重困惑度与下游分数；今天还要同时考虑有用性、安全性、可控性、成本和延迟。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7991856" y="3703320"/>
            <a:ext cx="3493008" cy="1755648"/>
          </a:xfrm>
          <a:prstGeom prst="roundRect">
            <a:avLst>
              <a:gd name="adj" fmla="val 4167"/>
            </a:avLst>
          </a:prstGeom>
          <a:solidFill>
            <a:srgbClr val="FFFDF8"/>
          </a:solidFill>
          <a:ln w="12700">
            <a:solidFill>
              <a:srgbClr val="3E6FF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01584" y="3831336"/>
            <a:ext cx="109728" cy="475488"/>
          </a:xfrm>
          <a:prstGeom prst="rect">
            <a:avLst/>
          </a:prstGeom>
          <a:solidFill>
            <a:srgbClr val="3E6FF4"/>
          </a:solidFill>
          <a:ln w="12700">
            <a:solidFill>
              <a:srgbClr val="3E6FF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02752" y="383133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产品边界在变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02752" y="4398264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API 到聊天机器人，再到可检索、可执行、可验证的 agent/workflow 系统。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6254496"/>
            <a:ext cx="10874959" cy="0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PREHISTORY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512064" y="521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Transformer 之前：统计方法与序列神经网络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12064" y="1133856"/>
            <a:ext cx="566928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真正的“语言模型”能力并非突然出现。Transformer 接住的是几十年对语言建模、表示学习和序列训练的积累。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11712" y="64190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13232" y="1517904"/>
            <a:ext cx="3438144" cy="4297680"/>
          </a:xfrm>
          <a:prstGeom prst="roundRect">
            <a:avLst>
              <a:gd name="adj" fmla="val 2128"/>
            </a:avLst>
          </a:prstGeom>
          <a:solidFill>
            <a:srgbClr val="FFFDF8"/>
          </a:solidFill>
          <a:ln w="12700">
            <a:solidFill>
              <a:srgbClr val="69C8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1655064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70992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阶段演进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77824" y="2084832"/>
            <a:ext cx="3127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1950s-1980s：规则系统与符号 AI 为主，知识可解释，但维护成本高。</a:t>
            </a:r>
            <a:endParaRPr lang="en-US" sz="1517" dirty="0"/>
          </a:p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1990s-2000s：n-gram + 平滑方法统治工业语言建模，擅长局部统计，不擅长长距离依赖。</a:t>
            </a:r>
            <a:endParaRPr lang="en-US" sz="1517" dirty="0"/>
          </a:p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2013-2016：word2vec、seq2seq、attention、LSTM 让表示学习和端到端训练成为主流。</a:t>
            </a:r>
            <a:endParaRPr lang="en-US" sz="1517" dirty="0"/>
          </a:p>
        </p:txBody>
      </p:sp>
      <p:sp>
        <p:nvSpPr>
          <p:cNvPr id="12" name="Shape 10"/>
          <p:cNvSpPr/>
          <p:nvPr/>
        </p:nvSpPr>
        <p:spPr>
          <a:xfrm>
            <a:off x="4443984" y="1517904"/>
            <a:ext cx="3163824" cy="2029968"/>
          </a:xfrm>
          <a:prstGeom prst="roundRect">
            <a:avLst>
              <a:gd name="adj" fmla="val 3604"/>
            </a:avLst>
          </a:prstGeom>
          <a:solidFill>
            <a:srgbClr val="FFFDF8"/>
          </a:solidFill>
          <a:ln w="12700">
            <a:solidFill>
              <a:srgbClr val="D85C5C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1645920"/>
            <a:ext cx="109728" cy="475488"/>
          </a:xfrm>
          <a:prstGeom prst="rect">
            <a:avLst/>
          </a:prstGeom>
          <a:solidFill>
            <a:srgbClr val="D85C5C"/>
          </a:solidFill>
          <a:ln w="12700">
            <a:solidFill>
              <a:srgbClr val="D85C5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4592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旧范式的瓶颈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212848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RNN/LSTM 训练天然串行，难以充分吃满并行算力。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长距离依赖会逐步衰减，模型难把全局语义“同时看到”。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预训练与迁移能力有限，知识更像任务专用而非通用底座。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772400" y="1517904"/>
            <a:ext cx="3694176" cy="2029968"/>
          </a:xfrm>
          <a:prstGeom prst="roundRect">
            <a:avLst>
              <a:gd name="adj" fmla="val 3604"/>
            </a:avLst>
          </a:prstGeom>
          <a:solidFill>
            <a:srgbClr val="FFFDF8"/>
          </a:solidFill>
          <a:ln w="12700">
            <a:solidFill>
              <a:srgbClr val="F3B35E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82128" y="1645920"/>
            <a:ext cx="109728" cy="475488"/>
          </a:xfrm>
          <a:prstGeom prst="rect">
            <a:avLst/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83296" y="164592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为什么 2017 会爆发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83296" y="2212848"/>
            <a:ext cx="31821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66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注意力机制已经被证明能改进 seq2seq。</a:t>
            </a:r>
            <a:endParaRPr lang="en-US" sz="1166" dirty="0"/>
          </a:p>
          <a:p>
            <a:pPr marL="152400" indent="-152400">
              <a:buSzPct val="100000"/>
              <a:buChar char="•"/>
            </a:pPr>
            <a:r>
              <a:rPr lang="en-US" sz="1166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更大的语料、GPU/TPU 与分布式训练逐渐成熟。</a:t>
            </a:r>
            <a:endParaRPr lang="en-US" sz="1166" dirty="0"/>
          </a:p>
          <a:p>
            <a:pPr marL="152400" indent="-152400">
              <a:buSzPct val="100000"/>
              <a:buChar char="•"/>
            </a:pPr>
            <a:r>
              <a:rPr lang="en-US" sz="1166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产业开始相信“统一预训练底座”比大量小模型更划算。</a:t>
            </a:r>
            <a:endParaRPr lang="en-US" sz="1166" dirty="0"/>
          </a:p>
        </p:txBody>
      </p:sp>
      <p:sp>
        <p:nvSpPr>
          <p:cNvPr id="20" name="Text 18"/>
          <p:cNvSpPr/>
          <p:nvPr/>
        </p:nvSpPr>
        <p:spPr>
          <a:xfrm>
            <a:off x="4462272" y="396849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底层矛盾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4334256"/>
            <a:ext cx="6601968" cy="0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4133088"/>
            <a:ext cx="1444752" cy="310896"/>
          </a:xfrm>
          <a:prstGeom prst="roundRect">
            <a:avLst>
              <a:gd name="adj" fmla="val 17647"/>
            </a:avLst>
          </a:prstGeom>
          <a:solidFill>
            <a:srgbClr val="EFE6D8"/>
          </a:solidFill>
          <a:ln w="12700">
            <a:solidFill>
              <a:srgbClr val="EFE6D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1879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串行训练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144768" y="4133088"/>
            <a:ext cx="1444752" cy="310896"/>
          </a:xfrm>
          <a:prstGeom prst="roundRect">
            <a:avLst>
              <a:gd name="adj" fmla="val 17647"/>
            </a:avLst>
          </a:prstGeom>
          <a:solidFill>
            <a:srgbClr val="DDE7F0"/>
          </a:solidFill>
          <a:ln w="12700">
            <a:solidFill>
              <a:srgbClr val="DDE7F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41879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局部上下文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808976" y="4133088"/>
            <a:ext cx="1444752" cy="310896"/>
          </a:xfrm>
          <a:prstGeom prst="roundRect">
            <a:avLst>
              <a:gd name="adj" fmla="val 17647"/>
            </a:avLst>
          </a:prstGeom>
          <a:solidFill>
            <a:srgbClr val="EFE6D8"/>
          </a:solidFill>
          <a:ln w="12700">
            <a:solidFill>
              <a:srgbClr val="EFE6D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08976" y="41879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任务孤岛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473184" y="4133088"/>
            <a:ext cx="1444752" cy="310896"/>
          </a:xfrm>
          <a:prstGeom prst="roundRect">
            <a:avLst>
              <a:gd name="adj" fmla="val 17647"/>
            </a:avLst>
          </a:prstGeom>
          <a:solidFill>
            <a:srgbClr val="DDE7F0"/>
          </a:solidFill>
          <a:ln w="12700">
            <a:solidFill>
              <a:srgbClr val="DDE7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73184" y="41879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迁移成本高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480560" y="4791456"/>
            <a:ext cx="6620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Transformer 并不是“突然更聪明”，而是第一次把计算并行性、全局依赖建模、统一预训练底座这三件事同时做对了。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6FF4"/>
          </a:solidFill>
          <a:ln w="12700">
            <a:solidFill>
              <a:srgbClr val="3E6FF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6254496"/>
            <a:ext cx="10874959" cy="0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2017-2019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512064" y="521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Transformer 把“可扩展性”带进语言模型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12064" y="1133856"/>
            <a:ext cx="566928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从这一步开始，语言模型进入了以注意力为中心的家族演化：encoder、decoder 和 encoder-decoder 分工逐渐清晰。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11712" y="64190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13232" y="1499616"/>
            <a:ext cx="3840480" cy="4535424"/>
          </a:xfrm>
          <a:prstGeom prst="roundRect">
            <a:avLst>
              <a:gd name="adj" fmla="val 1905"/>
            </a:avLst>
          </a:prstGeom>
          <a:solidFill>
            <a:srgbClr val="FFFDF8"/>
          </a:solidFill>
          <a:ln w="12700">
            <a:solidFill>
              <a:srgbClr val="3E6FF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627632"/>
            <a:ext cx="109728" cy="475488"/>
          </a:xfrm>
          <a:prstGeom prst="rect">
            <a:avLst/>
          </a:prstGeom>
          <a:solidFill>
            <a:srgbClr val="3E6FF4"/>
          </a:solidFill>
          <a:ln w="12700">
            <a:solidFill>
              <a:srgbClr val="3E6FF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62763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2017 关键变化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194560"/>
            <a:ext cx="332841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6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Self-attention 让序列中每个 token 直接看到其它 token，长距离依赖不再只靠“记忆链条”。</a:t>
            </a:r>
            <a:endParaRPr lang="en-US" sz="1446" dirty="0"/>
          </a:p>
          <a:p>
            <a:pPr marL="152400" indent="-152400">
              <a:buSzPct val="100000"/>
              <a:buChar char="•"/>
            </a:pPr>
            <a:r>
              <a:rPr lang="en-US" sz="1446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训练可以高度并行化，模型扩展速度第一次明显超越 RNN 家族。</a:t>
            </a:r>
            <a:endParaRPr lang="en-US" sz="1446" dirty="0"/>
          </a:p>
          <a:p>
            <a:pPr marL="152400" indent="-152400">
              <a:buSzPct val="100000"/>
              <a:buChar char="•"/>
            </a:pPr>
            <a:r>
              <a:rPr lang="en-US" sz="1446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同一套架构既能做理解，也能做生成，还能进一步演化成统一预训练底座。</a:t>
            </a:r>
            <a:endParaRPr lang="en-US" sz="1446" dirty="0"/>
          </a:p>
        </p:txBody>
      </p:sp>
      <p:sp>
        <p:nvSpPr>
          <p:cNvPr id="12" name="Shape 10"/>
          <p:cNvSpPr/>
          <p:nvPr/>
        </p:nvSpPr>
        <p:spPr>
          <a:xfrm>
            <a:off x="4718304" y="1499616"/>
            <a:ext cx="2907792" cy="2048256"/>
          </a:xfrm>
          <a:prstGeom prst="roundRect">
            <a:avLst>
              <a:gd name="adj" fmla="val 3571"/>
            </a:avLst>
          </a:prstGeom>
          <a:solidFill>
            <a:srgbClr val="FFFDF8"/>
          </a:solidFill>
          <a:ln w="12700">
            <a:solidFill>
              <a:srgbClr val="F3B35E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28032" y="1627632"/>
            <a:ext cx="109728" cy="475488"/>
          </a:xfrm>
          <a:prstGeom prst="rect">
            <a:avLst/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627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《Attention Is All You Need》提交于 2017-06-12，标志着“注意力优先”的架构路线成为主流。</a:t>
            </a:r>
            <a:endParaRPr lang="en-US" sz="1437" dirty="0"/>
          </a:p>
        </p:txBody>
      </p:sp>
      <p:sp>
        <p:nvSpPr>
          <p:cNvPr id="16" name="Shape 14"/>
          <p:cNvSpPr/>
          <p:nvPr/>
        </p:nvSpPr>
        <p:spPr>
          <a:xfrm>
            <a:off x="7790688" y="1499616"/>
            <a:ext cx="3657600" cy="2048256"/>
          </a:xfrm>
          <a:prstGeom prst="roundRect">
            <a:avLst>
              <a:gd name="adj" fmla="val 3571"/>
            </a:avLst>
          </a:prstGeom>
          <a:solidFill>
            <a:srgbClr val="FFFDF8"/>
          </a:solidFill>
          <a:ln w="12700">
            <a:solidFill>
              <a:srgbClr val="69C8C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00416" y="1627632"/>
            <a:ext cx="109728" cy="475488"/>
          </a:xfrm>
          <a:prstGeom prst="rect">
            <a:avLst/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162763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BERT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01584" y="2194560"/>
            <a:ext cx="3145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2019 NAACL 版本把双向预训练 + 下游微调推到工业主流，模型从“针对任务训练”转向“先学通用语言，再迁移”。</a:t>
            </a:r>
            <a:endParaRPr lang="en-US" sz="1417" dirty="0"/>
          </a:p>
        </p:txBody>
      </p:sp>
      <p:sp>
        <p:nvSpPr>
          <p:cNvPr id="20" name="Shape 18"/>
          <p:cNvSpPr/>
          <p:nvPr/>
        </p:nvSpPr>
        <p:spPr>
          <a:xfrm>
            <a:off x="4736592" y="3785616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EFE6D8"/>
          </a:solidFill>
          <a:ln w="12700">
            <a:solidFill>
              <a:srgbClr val="EFE6D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84048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模型分工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18304" y="4151376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FFFDF8"/>
          </a:solidFill>
          <a:ln w="12700">
            <a:solidFill>
              <a:srgbClr val="69C8C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28032" y="4279392"/>
            <a:ext cx="109728" cy="475488"/>
          </a:xfrm>
          <a:prstGeom prst="rect">
            <a:avLst/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42793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理解任务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846320"/>
            <a:ext cx="1408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更擅长分类、抽取、问答等“读懂再判断”的任务。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39712" y="4151376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FFFDF8"/>
          </a:solidFill>
          <a:ln w="12700">
            <a:solidFill>
              <a:srgbClr val="F3B35E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4279392"/>
            <a:ext cx="109728" cy="475488"/>
          </a:xfrm>
          <a:prstGeom prst="rect">
            <a:avLst/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42793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生成任务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50608" y="4846320"/>
            <a:ext cx="1408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自回归 decoder 更适合开放生成，后来成为 GPT 系列主路线。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961120" y="4151376"/>
            <a:ext cx="2487168" cy="1664208"/>
          </a:xfrm>
          <a:prstGeom prst="roundRect">
            <a:avLst>
              <a:gd name="adj" fmla="val 4396"/>
            </a:avLst>
          </a:prstGeom>
          <a:solidFill>
            <a:srgbClr val="FFFDF8"/>
          </a:solidFill>
          <a:ln w="12700">
            <a:solidFill>
              <a:srgbClr val="3E6FF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070848" y="4279392"/>
            <a:ext cx="109728" cy="475488"/>
          </a:xfrm>
          <a:prstGeom prst="rect">
            <a:avLst/>
          </a:prstGeom>
          <a:solidFill>
            <a:srgbClr val="3E6FF4"/>
          </a:solidFill>
          <a:ln w="12700">
            <a:solidFill>
              <a:srgbClr val="3E6FF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72016" y="427939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统一接口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72016" y="4846320"/>
            <a:ext cx="1975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text-to-text 思路让更多任务被写成统一输入输出格式，为后面的 instruction tuning 铺路。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5C5C"/>
          </a:solidFill>
          <a:ln w="12700">
            <a:solidFill>
              <a:srgbClr val="D85C5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6254496"/>
            <a:ext cx="10874959" cy="0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2020-2022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512064" y="521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规模定律之外，更关键的是“对齐”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12064" y="1133856"/>
            <a:ext cx="566928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GPT-3 证明大模型能通过 in-context learning 做通用任务；InstructGPT 和 ChatGPT 则证明“让模型更像一个合作对象”同样重要。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11712" y="64190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13232" y="1627632"/>
            <a:ext cx="3438144" cy="192024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2700">
            <a:solidFill>
              <a:srgbClr val="D85C5C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755648"/>
            <a:ext cx="109728" cy="475488"/>
          </a:xfrm>
          <a:prstGeom prst="rect">
            <a:avLst/>
          </a:prstGeom>
          <a:solidFill>
            <a:srgbClr val="D85C5C"/>
          </a:solidFill>
          <a:ln w="12700">
            <a:solidFill>
              <a:srgbClr val="D85C5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5564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2020 | GPT-3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322576"/>
            <a:ext cx="2926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论文明确写到模型拥有 1750 亿参数，并展示 few-shot / zero-shot 能力，很多任务无需再单独训练专门模型。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8046720" y="1627632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2700">
            <a:solidFill>
              <a:srgbClr val="3E6FF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6448" y="1755648"/>
            <a:ext cx="109728" cy="475488"/>
          </a:xfrm>
          <a:prstGeom prst="rect">
            <a:avLst/>
          </a:prstGeom>
          <a:solidFill>
            <a:srgbClr val="3E6FF4"/>
          </a:solidFill>
          <a:ln w="12700">
            <a:solidFill>
              <a:srgbClr val="3E6F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17556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2022 | ChatGPT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7616" y="2322576"/>
            <a:ext cx="28895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2022-11-30 发布后，对话界面把语言模型从 API 能力变成大众产品；“提示词”第一次进入主流工作流。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4425696" y="1664208"/>
            <a:ext cx="3035808" cy="4224528"/>
          </a:xfrm>
          <a:prstGeom prst="roundRect">
            <a:avLst>
              <a:gd name="adj" fmla="val 2410"/>
            </a:avLst>
          </a:prstGeom>
          <a:solidFill>
            <a:srgbClr val="FFFDF8"/>
          </a:solidFill>
          <a:ln w="12700">
            <a:solidFill>
              <a:srgbClr val="EFE6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88366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从“会续写”到“会合作”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09744" y="2340864"/>
            <a:ext cx="2267712" cy="512064"/>
          </a:xfrm>
          <a:prstGeom prst="roundRect">
            <a:avLst>
              <a:gd name="adj" fmla="val 10714"/>
            </a:avLst>
          </a:prstGeom>
          <a:solidFill>
            <a:srgbClr val="F7F1E8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395728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预训练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4937760" y="256032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海量文本上学习分布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5943600" y="2852928"/>
            <a:ext cx="0" cy="164592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09744" y="3017520"/>
            <a:ext cx="2267712" cy="512064"/>
          </a:xfrm>
          <a:prstGeom prst="roundRect">
            <a:avLst>
              <a:gd name="adj" fmla="val 10714"/>
            </a:avLst>
          </a:prstGeom>
          <a:solidFill>
            <a:srgbClr val="F7F1E8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3072384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指令微调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937760" y="3236976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让输出更贴近用户意图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5943600" y="3529584"/>
            <a:ext cx="0" cy="164592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809744" y="3694176"/>
            <a:ext cx="2267712" cy="512064"/>
          </a:xfrm>
          <a:prstGeom prst="roundRect">
            <a:avLst>
              <a:gd name="adj" fmla="val 10714"/>
            </a:avLst>
          </a:prstGeom>
          <a:solidFill>
            <a:srgbClr val="FCE6E6"/>
          </a:solidFill>
          <a:ln w="12700">
            <a:solidFill>
              <a:srgbClr val="D8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749040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RLHF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4937760" y="3913632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引入人类偏好与安全约束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5943600" y="4206240"/>
            <a:ext cx="0" cy="164592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09744" y="4370832"/>
            <a:ext cx="2267712" cy="512064"/>
          </a:xfrm>
          <a:prstGeom prst="roundRect">
            <a:avLst>
              <a:gd name="adj" fmla="val 10714"/>
            </a:avLst>
          </a:prstGeom>
          <a:solidFill>
            <a:srgbClr val="F7F1E8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4425696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聊天产品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4937760" y="4590288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把交互链路暴露给普通用户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713232" y="3895344"/>
            <a:ext cx="3438144" cy="1993392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F3B35E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960" y="4023360"/>
            <a:ext cx="109728" cy="475488"/>
          </a:xfrm>
          <a:prstGeom prst="rect">
            <a:avLst/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402336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2022 | InstructGPT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24128" y="4590288"/>
            <a:ext cx="2926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OpenAI 的 RLHF 论文把“人类更偏好的回答”作为目标之一，说明后训练不只是锦上添花，而是体验核心。</a:t>
            </a:r>
            <a:endParaRPr lang="en-US" sz="1417" dirty="0"/>
          </a:p>
        </p:txBody>
      </p:sp>
      <p:sp>
        <p:nvSpPr>
          <p:cNvPr id="37" name="Shape 35"/>
          <p:cNvSpPr/>
          <p:nvPr/>
        </p:nvSpPr>
        <p:spPr>
          <a:xfrm>
            <a:off x="8046720" y="3895344"/>
            <a:ext cx="3401568" cy="1993392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69C8C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56448" y="4023360"/>
            <a:ext cx="109728" cy="475488"/>
          </a:xfrm>
          <a:prstGeom prst="rect">
            <a:avLst/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402336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行业影响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57616" y="4590288"/>
            <a:ext cx="2889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99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从这一阶段开始，模型竞争不再只看参数量，还要看工具调用、系统提示、内容审核、延迟与单位成本。</a:t>
            </a:r>
            <a:endParaRPr lang="en-US" sz="139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6254496"/>
            <a:ext cx="10874959" cy="0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2023-2024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512064" y="521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多模态与长上下文，把语言模型变成工作平台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12064" y="1133856"/>
            <a:ext cx="566928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模型开始同时处理图像、长文档和更复杂的工作流，API 不再只是“补全文本”，而是变成更通用的软件能力层。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11712" y="64190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13232" y="1609344"/>
            <a:ext cx="3401568" cy="4480560"/>
          </a:xfrm>
          <a:prstGeom prst="roundRect">
            <a:avLst>
              <a:gd name="adj" fmla="val 2151"/>
            </a:avLst>
          </a:prstGeom>
          <a:solidFill>
            <a:srgbClr val="FFFDF8"/>
          </a:solidFill>
          <a:ln w="12700">
            <a:solidFill>
              <a:srgbClr val="3E6FF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737360"/>
            <a:ext cx="109728" cy="475488"/>
          </a:xfrm>
          <a:prstGeom prst="rect">
            <a:avLst/>
          </a:prstGeom>
          <a:solidFill>
            <a:srgbClr val="3E6FF4"/>
          </a:solidFill>
          <a:ln w="12700">
            <a:solidFill>
              <a:srgbClr val="3E6FF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GPT-4 | 2023-03-14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304288"/>
            <a:ext cx="288950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5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官方页将 GPT-4 定义为“multimodal”，可以接收图像与文本输入、输出文本。这一步把能力边界从纯文本聊天推进到更泛化的感知与工作辅助。</a:t>
            </a:r>
            <a:endParaRPr lang="en-US" sz="1405" dirty="0"/>
          </a:p>
        </p:txBody>
      </p:sp>
      <p:sp>
        <p:nvSpPr>
          <p:cNvPr id="12" name="Shape 10"/>
          <p:cNvSpPr/>
          <p:nvPr/>
        </p:nvSpPr>
        <p:spPr>
          <a:xfrm>
            <a:off x="4407408" y="1609344"/>
            <a:ext cx="3401568" cy="4480560"/>
          </a:xfrm>
          <a:prstGeom prst="roundRect">
            <a:avLst>
              <a:gd name="adj" fmla="val 2151"/>
            </a:avLst>
          </a:prstGeom>
          <a:solidFill>
            <a:srgbClr val="FFFDF8"/>
          </a:solidFill>
          <a:ln w="12700">
            <a:solidFill>
              <a:srgbClr val="F3B35E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17136" y="1737360"/>
            <a:ext cx="109728" cy="475488"/>
          </a:xfrm>
          <a:prstGeom prst="rect">
            <a:avLst/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73736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Gemini 1.5 | 2024-02-15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18304" y="2304288"/>
            <a:ext cx="288950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5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Google 在官方公告中强调 1M token 上下文窗口。长上下文意味着模型开始有能力“读完整份材料再回答”，检索与记忆设计随之变化。</a:t>
            </a:r>
            <a:endParaRPr lang="en-US" sz="1405" dirty="0"/>
          </a:p>
        </p:txBody>
      </p:sp>
      <p:sp>
        <p:nvSpPr>
          <p:cNvPr id="16" name="Shape 14"/>
          <p:cNvSpPr/>
          <p:nvPr/>
        </p:nvSpPr>
        <p:spPr>
          <a:xfrm>
            <a:off x="8101584" y="1609344"/>
            <a:ext cx="3364992" cy="4480560"/>
          </a:xfrm>
          <a:prstGeom prst="roundRect">
            <a:avLst>
              <a:gd name="adj" fmla="val 2174"/>
            </a:avLst>
          </a:prstGeom>
          <a:solidFill>
            <a:srgbClr val="FFFDF8"/>
          </a:solidFill>
          <a:ln w="12700">
            <a:solidFill>
              <a:srgbClr val="69C8C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1737360"/>
            <a:ext cx="109728" cy="475488"/>
          </a:xfrm>
          <a:prstGeom prst="rect">
            <a:avLst/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737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Claude 3.5 Sonnet | 2024-06-20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2304288"/>
            <a:ext cx="285292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76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Anthropic 把它定位为在 frontier intelligence 上更强、同时速度约为 Claude 3 Opus 的两倍。模型竞赛开始明显转向“质量 + 速度 + 可靠工作流”。</a:t>
            </a:r>
            <a:endParaRPr lang="en-US" sz="1376" dirty="0"/>
          </a:p>
        </p:txBody>
      </p:sp>
      <p:sp>
        <p:nvSpPr>
          <p:cNvPr id="20" name="Shape 18"/>
          <p:cNvSpPr/>
          <p:nvPr/>
        </p:nvSpPr>
        <p:spPr>
          <a:xfrm>
            <a:off x="1078992" y="5468112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DDE7F0"/>
          </a:solidFill>
          <a:ln w="12700">
            <a:solidFill>
              <a:srgbClr val="DDE7F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552297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看得更多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73168" y="5468112"/>
            <a:ext cx="932688" cy="310896"/>
          </a:xfrm>
          <a:prstGeom prst="roundRect">
            <a:avLst>
              <a:gd name="adj" fmla="val 17647"/>
            </a:avLst>
          </a:prstGeom>
          <a:solidFill>
            <a:srgbClr val="EFE6D8"/>
          </a:solidFill>
          <a:ln w="12700">
            <a:solidFill>
              <a:srgbClr val="EFE6D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552297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读得更长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503920" y="5468112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DCEFE3"/>
          </a:solidFill>
          <a:ln w="12700">
            <a:solidFill>
              <a:srgbClr val="DCEFE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552297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用得更稳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6254496"/>
            <a:ext cx="10874959" cy="0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2024-2025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512064" y="521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开放权重与推理模型，重新定义竞争焦点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12064" y="1133856"/>
            <a:ext cx="566928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到这一阶段，问题不再只是“谁更会聊天”，而是“谁更便宜、更可部署、更会调用工具、更能在推理链路中自我修正”。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11712" y="64190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07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5376672" cy="2267712"/>
          </a:xfrm>
          <a:prstGeom prst="roundRect">
            <a:avLst>
              <a:gd name="adj" fmla="val 3226"/>
            </a:avLst>
          </a:prstGeom>
          <a:solidFill>
            <a:srgbClr val="FFFDF8"/>
          </a:solidFill>
          <a:ln w="12700">
            <a:solidFill>
              <a:srgbClr val="69C8C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700784"/>
            <a:ext cx="109728" cy="475488"/>
          </a:xfrm>
          <a:prstGeom prst="rect">
            <a:avLst/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007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开放权重路线：Llama 3 代表了能力扩散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267712"/>
            <a:ext cx="486460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Meta 在 2024-04-18 的官方发布中把 Llama 3 推向更大规模生态。开放权重让蒸馏、微调、私有部署与行业模型更快扩散，竞争从“只有谁有前沿模型”转向“谁能最快落地”。</a:t>
            </a:r>
            <a:endParaRPr lang="en-US" sz="1437" dirty="0"/>
          </a:p>
        </p:txBody>
      </p:sp>
      <p:sp>
        <p:nvSpPr>
          <p:cNvPr id="12" name="Shape 10"/>
          <p:cNvSpPr/>
          <p:nvPr/>
        </p:nvSpPr>
        <p:spPr>
          <a:xfrm>
            <a:off x="6254496" y="1572768"/>
            <a:ext cx="5193792" cy="2267712"/>
          </a:xfrm>
          <a:prstGeom prst="roundRect">
            <a:avLst>
              <a:gd name="adj" fmla="val 3226"/>
            </a:avLst>
          </a:prstGeom>
          <a:solidFill>
            <a:srgbClr val="FFFDF8"/>
          </a:solidFill>
          <a:ln w="12700">
            <a:solidFill>
              <a:srgbClr val="3E6FF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64224" y="1700784"/>
            <a:ext cx="109728" cy="475488"/>
          </a:xfrm>
          <a:prstGeom prst="rect">
            <a:avLst/>
          </a:prstGeom>
          <a:solidFill>
            <a:srgbClr val="3E6FF4"/>
          </a:solidFill>
          <a:ln w="12700">
            <a:solidFill>
              <a:srgbClr val="3E6F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7007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推理强化路线：DeepSeek-R1 把 RL 再次推上台前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65392" y="2267712"/>
            <a:ext cx="46817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6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论文提交日期为 2025-01-22，并在摘要中强调 reasoning models can emerge from pure reinforcement learning。重点从静态回答转向推理过程、验证、反思与测试时计算。</a:t>
            </a:r>
            <a:endParaRPr lang="en-US" sz="1386" dirty="0"/>
          </a:p>
        </p:txBody>
      </p:sp>
      <p:sp>
        <p:nvSpPr>
          <p:cNvPr id="16" name="Shape 14"/>
          <p:cNvSpPr/>
          <p:nvPr/>
        </p:nvSpPr>
        <p:spPr>
          <a:xfrm>
            <a:off x="713232" y="4096512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12700">
            <a:solidFill>
              <a:srgbClr val="F3B3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423367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2885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系统能力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77824" y="4663440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工具使用</a:t>
            </a:r>
            <a:endParaRPr lang="en-US" sz="1517" dirty="0"/>
          </a:p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检索与文件理解</a:t>
            </a:r>
            <a:endParaRPr lang="en-US" sz="1517" dirty="0"/>
          </a:p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代码生成与测试循环</a:t>
            </a:r>
            <a:endParaRPr lang="en-US" sz="1517" dirty="0"/>
          </a:p>
        </p:txBody>
      </p:sp>
      <p:sp>
        <p:nvSpPr>
          <p:cNvPr id="20" name="Shape 18"/>
          <p:cNvSpPr/>
          <p:nvPr/>
        </p:nvSpPr>
        <p:spPr>
          <a:xfrm>
            <a:off x="3675888" y="4096512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12700">
            <a:solidFill>
              <a:srgbClr val="D85C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423367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D85C5C"/>
          </a:solidFill>
          <a:ln w="12700">
            <a:solidFill>
              <a:srgbClr val="D85C5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42885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工程约束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840480" y="4663440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单位成本</a:t>
            </a:r>
            <a:endParaRPr lang="en-US" sz="1517" dirty="0"/>
          </a:p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时延与吞吐</a:t>
            </a:r>
            <a:endParaRPr lang="en-US" sz="1517" dirty="0"/>
          </a:p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部署和数据主权</a:t>
            </a:r>
            <a:endParaRPr lang="en-US" sz="1517" dirty="0"/>
          </a:p>
        </p:txBody>
      </p:sp>
      <p:sp>
        <p:nvSpPr>
          <p:cNvPr id="24" name="Shape 22"/>
          <p:cNvSpPr/>
          <p:nvPr/>
        </p:nvSpPr>
        <p:spPr>
          <a:xfrm>
            <a:off x="6638544" y="4096512"/>
            <a:ext cx="2468880" cy="1719072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12700">
            <a:solidFill>
              <a:srgbClr val="69C8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423367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42885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评测变化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803136" y="4663440"/>
            <a:ext cx="21579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benchmark 到 workflow</a:t>
            </a:r>
            <a:endParaRPr lang="en-US" sz="1517" dirty="0"/>
          </a:p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从单次回答到多步任务</a:t>
            </a:r>
            <a:endParaRPr lang="en-US" sz="1517" dirty="0"/>
          </a:p>
        </p:txBody>
      </p:sp>
      <p:sp>
        <p:nvSpPr>
          <p:cNvPr id="28" name="Shape 26"/>
          <p:cNvSpPr/>
          <p:nvPr/>
        </p:nvSpPr>
        <p:spPr>
          <a:xfrm>
            <a:off x="9326880" y="4096512"/>
            <a:ext cx="2121408" cy="1719072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12700">
            <a:solidFill>
              <a:srgbClr val="3E6F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91472" y="423367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3E6FF4"/>
          </a:solidFill>
          <a:ln w="12700">
            <a:solidFill>
              <a:srgbClr val="3E6FF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91472" y="42885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产品结果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9491472" y="4663440"/>
            <a:ext cx="18105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Copilot</a:t>
            </a:r>
            <a:endParaRPr lang="en-US" sz="1517" dirty="0"/>
          </a:p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1517" dirty="0"/>
          </a:p>
          <a:p>
            <a:pPr marL="152400" indent="-152400">
              <a:buSzPct val="100000"/>
              <a:buChar char="•"/>
            </a:pPr>
            <a:r>
              <a:rPr lang="en-US" sz="1517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行业工作台</a:t>
            </a:r>
            <a:endParaRPr lang="en-US" sz="151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6254496"/>
            <a:ext cx="10874959" cy="0"/>
          </a:xfrm>
          <a:prstGeom prst="line">
            <a:avLst/>
          </a:prstGeom>
          <a:noFill/>
          <a:ln w="12700">
            <a:solidFill>
              <a:srgbClr val="5360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3B35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TAKEAWAYS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512064" y="521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DF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今天再看语言模型，关键结论是什么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12064" y="1133856"/>
            <a:ext cx="566928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0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架构仍然重要，但真正决定产品差异的，越来越是后训练、工具链、系统设计和推理时计算。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11712" y="64190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D7E0E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08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13232" y="1609344"/>
            <a:ext cx="5340096" cy="1609344"/>
          </a:xfrm>
          <a:prstGeom prst="roundRect">
            <a:avLst>
              <a:gd name="adj" fmla="val 4545"/>
            </a:avLst>
          </a:prstGeom>
          <a:solidFill>
            <a:srgbClr val="131C31"/>
          </a:solidFill>
          <a:ln w="12700">
            <a:solidFill>
              <a:srgbClr val="F3B35E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737360"/>
            <a:ext cx="109728" cy="475488"/>
          </a:xfrm>
          <a:prstGeom prst="rect">
            <a:avLst/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结论 1 | 主干架构仍是 Transformer 家族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304288"/>
            <a:ext cx="4828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7" dirty="0">
                <a:solidFill>
                  <a:srgbClr val="D7E0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虽然名字不断变化，但过去几年主流语言模型仍然围绕 Transformer 及其变体展开。</a:t>
            </a:r>
            <a:endParaRPr lang="en-US" sz="1357" dirty="0"/>
          </a:p>
        </p:txBody>
      </p:sp>
      <p:sp>
        <p:nvSpPr>
          <p:cNvPr id="12" name="Shape 10"/>
          <p:cNvSpPr/>
          <p:nvPr/>
        </p:nvSpPr>
        <p:spPr>
          <a:xfrm>
            <a:off x="6163056" y="1609344"/>
            <a:ext cx="5285232" cy="1609344"/>
          </a:xfrm>
          <a:prstGeom prst="roundRect">
            <a:avLst>
              <a:gd name="adj" fmla="val 4545"/>
            </a:avLst>
          </a:prstGeom>
          <a:solidFill>
            <a:srgbClr val="131C31"/>
          </a:solidFill>
          <a:ln w="12700">
            <a:solidFill>
              <a:srgbClr val="69C8C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2784" y="1737360"/>
            <a:ext cx="109728" cy="475488"/>
          </a:xfrm>
          <a:prstGeom prst="rect">
            <a:avLst/>
          </a:prstGeom>
          <a:solidFill>
            <a:srgbClr val="69C8C4"/>
          </a:solidFill>
          <a:ln w="12700">
            <a:solidFill>
              <a:srgbClr val="69C8C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7373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结论 2 | 参数不是全部，post-training 越来越重要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2304288"/>
            <a:ext cx="4773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7" dirty="0">
                <a:solidFill>
                  <a:srgbClr val="D7E0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指令微调、偏好优化、系统提示、工具调用与安全策略共同决定了最终体验。</a:t>
            </a:r>
            <a:endParaRPr lang="en-US" sz="1357" dirty="0"/>
          </a:p>
        </p:txBody>
      </p:sp>
      <p:sp>
        <p:nvSpPr>
          <p:cNvPr id="16" name="Shape 14"/>
          <p:cNvSpPr/>
          <p:nvPr/>
        </p:nvSpPr>
        <p:spPr>
          <a:xfrm>
            <a:off x="713232" y="3547872"/>
            <a:ext cx="5340096" cy="1609344"/>
          </a:xfrm>
          <a:prstGeom prst="roundRect">
            <a:avLst>
              <a:gd name="adj" fmla="val 4545"/>
            </a:avLst>
          </a:prstGeom>
          <a:solidFill>
            <a:srgbClr val="131C31"/>
          </a:solidFill>
          <a:ln w="12700">
            <a:solidFill>
              <a:srgbClr val="3E6FF4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675888"/>
            <a:ext cx="109728" cy="475488"/>
          </a:xfrm>
          <a:prstGeom prst="rect">
            <a:avLst/>
          </a:prstGeom>
          <a:solidFill>
            <a:srgbClr val="3E6FF4"/>
          </a:solidFill>
          <a:ln w="12700">
            <a:solidFill>
              <a:srgbClr val="3E6FF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67588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结论 3 | 聊天只是入口，系统化能力才是终局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4242816"/>
            <a:ext cx="4828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7" dirty="0">
                <a:solidFill>
                  <a:srgbClr val="D7E0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当模型能读长文档、调用工具、执行验证时，它更像一个软件子系统，而不是单一问答器。</a:t>
            </a:r>
            <a:endParaRPr lang="en-US" sz="1337" dirty="0"/>
          </a:p>
        </p:txBody>
      </p:sp>
      <p:sp>
        <p:nvSpPr>
          <p:cNvPr id="20" name="Shape 18"/>
          <p:cNvSpPr/>
          <p:nvPr/>
        </p:nvSpPr>
        <p:spPr>
          <a:xfrm>
            <a:off x="6163056" y="3547872"/>
            <a:ext cx="5285232" cy="1609344"/>
          </a:xfrm>
          <a:prstGeom prst="roundRect">
            <a:avLst>
              <a:gd name="adj" fmla="val 4545"/>
            </a:avLst>
          </a:prstGeom>
          <a:solidFill>
            <a:srgbClr val="131C31"/>
          </a:solidFill>
          <a:ln w="12700">
            <a:solidFill>
              <a:srgbClr val="D85C5C"/>
            </a:solidFill>
            <a:prstDash val="solid"/>
          </a:ln>
          <a:effectLst>
            <a:outerShdw sx="100000" sy="100000" kx="0" ky="0" algn="bl" rotWithShape="0" blurRad="19050" dist="10160" dir="2700000">
              <a:srgbClr val="0B102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3675888"/>
            <a:ext cx="109728" cy="475488"/>
          </a:xfrm>
          <a:prstGeom prst="rect">
            <a:avLst/>
          </a:prstGeom>
          <a:solidFill>
            <a:srgbClr val="D85C5C"/>
          </a:solidFill>
          <a:ln w="12700">
            <a:solidFill>
              <a:srgbClr val="D85C5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6758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结论 4 | 闭源 frontier 与开放生态会长期并存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3952" y="4242816"/>
            <a:ext cx="4773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7" dirty="0">
                <a:solidFill>
                  <a:srgbClr val="D7E0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前者追求极限性能，后者追求扩散速度、低成本与可控部署；两条路线都会继续存在。</a:t>
            </a:r>
            <a:endParaRPr lang="en-US" sz="1337" dirty="0"/>
          </a:p>
        </p:txBody>
      </p:sp>
      <p:sp>
        <p:nvSpPr>
          <p:cNvPr id="24" name="Text 22"/>
          <p:cNvSpPr/>
          <p:nvPr/>
        </p:nvSpPr>
        <p:spPr>
          <a:xfrm>
            <a:off x="713232" y="56509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B35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继续观察的四个变量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54096" y="5504688"/>
            <a:ext cx="1700784" cy="310896"/>
          </a:xfrm>
          <a:prstGeom prst="roundRect">
            <a:avLst>
              <a:gd name="adj" fmla="val 17647"/>
            </a:avLst>
          </a:prstGeom>
          <a:solidFill>
            <a:srgbClr val="23304A"/>
          </a:solidFill>
          <a:ln w="12700">
            <a:solidFill>
              <a:srgbClr val="2330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54096" y="555955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DF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推理时计算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065776" y="5504688"/>
            <a:ext cx="1700784" cy="310896"/>
          </a:xfrm>
          <a:prstGeom prst="roundRect">
            <a:avLst>
              <a:gd name="adj" fmla="val 17647"/>
            </a:avLst>
          </a:prstGeom>
          <a:solidFill>
            <a:srgbClr val="1B2439"/>
          </a:solidFill>
          <a:ln w="12700">
            <a:solidFill>
              <a:srgbClr val="1B243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65776" y="555955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DF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上下文成本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077456" y="5504688"/>
            <a:ext cx="1700784" cy="310896"/>
          </a:xfrm>
          <a:prstGeom prst="roundRect">
            <a:avLst>
              <a:gd name="adj" fmla="val 17647"/>
            </a:avLst>
          </a:prstGeom>
          <a:solidFill>
            <a:srgbClr val="23304A"/>
          </a:solidFill>
          <a:ln w="12700">
            <a:solidFill>
              <a:srgbClr val="23304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77456" y="555955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DF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工具可靠性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9089136" y="5504688"/>
            <a:ext cx="1700784" cy="310896"/>
          </a:xfrm>
          <a:prstGeom prst="roundRect">
            <a:avLst>
              <a:gd name="adj" fmla="val 17647"/>
            </a:avLst>
          </a:prstGeom>
          <a:solidFill>
            <a:srgbClr val="1B2439"/>
          </a:solidFill>
          <a:ln w="12700">
            <a:solidFill>
              <a:srgbClr val="1B243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89136" y="555955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DF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行业工作流整合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B35E"/>
          </a:solidFill>
          <a:ln w="12700">
            <a:solidFill>
              <a:srgbClr val="F3B3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6254496"/>
            <a:ext cx="10874959" cy="0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REFERENCES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512064" y="521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参考来源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12064" y="1133856"/>
            <a:ext cx="566928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最近节点优先使用官方论文、机构博客或官方研究页面；链接已保留，便于后续继续扩展这份 deck。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11712" y="64190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09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13232" y="1609344"/>
            <a:ext cx="10972800" cy="4224528"/>
          </a:xfrm>
          <a:prstGeom prst="roundRect">
            <a:avLst>
              <a:gd name="adj" fmla="val 1732"/>
            </a:avLst>
          </a:prstGeom>
          <a:solidFill>
            <a:srgbClr val="FFFDF8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865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2017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591056" y="18470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Attention Is All You Need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591056" y="20848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https://arxiv.org/abs/1706.03762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24128" y="26883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2019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591056" y="267004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BERT: Pre-training of Deep Bidirectional Transformers for Language Understanding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591056" y="29077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https://aclanthology.org/N19-1423/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024128" y="35112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2020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1591056" y="349300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Language Models are Few-Shot Learners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591056" y="37307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https://arxiv.org/abs/2005.14165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024128" y="43342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2022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1591056" y="431596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Training language models to follow instructions with human feedback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591056" y="45537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https://arxiv.org/abs/2203.02155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024128" y="515721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2022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591056" y="513892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Introducing ChatGPT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1591056" y="53766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https://openai.com/index/chatgpt/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254496" y="1865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2023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6821424" y="18470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GPT-4 Research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821424" y="20848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https://openai.com/index/gpt-4-research/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254496" y="26883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2024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21424" y="267004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Google Gemini 1.5 announcement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821424" y="29077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https://blog.google/technology/ai/google-gemini-next-generation-model-february-2024/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254496" y="35112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2024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6821424" y="349300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Introducing Claude 3.5 Sonnet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821424" y="37307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https://www.anthropic.com/news/claude-3-5-sonnet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254496" y="43342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2024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6821424" y="431596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Meta AI built with Llama 3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6821424" y="45537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https://about.fb.com/news/2024/04/meta-ai-assistant-built-with-llama-3/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6254496" y="515721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E6FF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2025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6821424" y="513892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DeepSeek-R1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6821424" y="53766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https://arxiv.org/abs/2501.12948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859536" y="614476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D748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构建说明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1883664" y="610819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D74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这份演示文稿由 PptxGenJS 生成，保留了可编辑文本和形状对象，便于继续改写、增删页或替换配色。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AI语言模型发展历程</dc:title>
  <dc:subject>AI language model development history</dc:subject>
  <dc:creator>OpenAI Codex</dc:creator>
  <cp:lastModifiedBy>OpenAI Codex</cp:lastModifiedBy>
  <cp:revision>1</cp:revision>
  <dcterms:created xsi:type="dcterms:W3CDTF">2026-03-17T05:57:58Z</dcterms:created>
  <dcterms:modified xsi:type="dcterms:W3CDTF">2026-03-17T05:57:58Z</dcterms:modified>
</cp:coreProperties>
</file>